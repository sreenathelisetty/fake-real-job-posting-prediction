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Nunito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unito-regular.fntdata"/><Relationship Id="rId21" Type="http://schemas.openxmlformats.org/officeDocument/2006/relationships/slide" Target="slides/slide16.xml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Nunito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3dd3ee60fb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3dd3ee60fb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1443acc01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1443acc01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6f8be5cb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6f8be5cb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6f8bffe0f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6f8bffe0f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6f8bffe0f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6f8bffe0f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6f8bffe0f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6f8bffe0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6f8bffe0f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6f8bffe0f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6f8bffe0f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6f8bffe0f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6f8bffe0f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6f8bffe0f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f8bffe0f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6f8bffe0f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6f8bffe0f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6f8bffe0f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6f8bffe0f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6f8bffe0f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6f8bffe0f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6f8bffe0f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6f8bffe0f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6f8bffe0f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1694bb1549_0_1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1694bb1549_0_1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rgbClr val="9FC5E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idx="4294967295" type="title"/>
          </p:nvPr>
        </p:nvSpPr>
        <p:spPr>
          <a:xfrm>
            <a:off x="1143300" y="1186850"/>
            <a:ext cx="6857400" cy="9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4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 5613</a:t>
            </a:r>
            <a:endParaRPr b="1" sz="464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4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“Detecting Fake Job Postings: A Data-driven Approach”</a:t>
            </a:r>
            <a:endParaRPr b="1" sz="464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1135000" y="1765550"/>
            <a:ext cx="239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idx="4294967295" type="title"/>
          </p:nvPr>
        </p:nvSpPr>
        <p:spPr>
          <a:xfrm>
            <a:off x="591775" y="4282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b="1"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53650" y="1438075"/>
            <a:ext cx="7700400" cy="34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1496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0"/>
              <a:buFont typeface="Times New Roman"/>
              <a:buAutoNum type="arabicPeriod"/>
            </a:pPr>
            <a:r>
              <a:rPr lang="en" sz="1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36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0"/>
              <a:buFont typeface="Times New Roman"/>
              <a:buAutoNum type="arabicPeriod"/>
            </a:pPr>
            <a:r>
              <a:rPr lang="en" sz="1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of dataset</a:t>
            </a:r>
            <a:endParaRPr sz="136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0"/>
              <a:buFont typeface="Times New Roman"/>
              <a:buAutoNum type="arabicPeriod"/>
            </a:pPr>
            <a:r>
              <a:rPr lang="en" sz="1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 Steps</a:t>
            </a:r>
            <a:endParaRPr sz="136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0"/>
              <a:buFont typeface="Times New Roman"/>
              <a:buAutoNum type="arabicPeriod"/>
            </a:pPr>
            <a:r>
              <a:rPr lang="en" sz="1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 Statistics</a:t>
            </a:r>
            <a:endParaRPr sz="136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0"/>
              <a:buFont typeface="Times New Roman"/>
              <a:buAutoNum type="arabicPeriod"/>
            </a:pPr>
            <a:r>
              <a:rPr lang="en" sz="1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Plots</a:t>
            </a:r>
            <a:endParaRPr sz="136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0"/>
              <a:buFont typeface="Times New Roman"/>
              <a:buAutoNum type="arabicPeriod"/>
            </a:pPr>
            <a:r>
              <a:rPr lang="en" sz="1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Selection : Classification</a:t>
            </a:r>
            <a:endParaRPr sz="136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0"/>
              <a:buFont typeface="Times New Roman"/>
              <a:buAutoNum type="arabicPeriod"/>
            </a:pPr>
            <a:r>
              <a:rPr lang="en" sz="1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Classifier Selection : Decision Tree</a:t>
            </a:r>
            <a:endParaRPr sz="136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0"/>
              <a:buFont typeface="Times New Roman"/>
              <a:buAutoNum type="arabicPeriod"/>
            </a:pPr>
            <a:r>
              <a:rPr lang="en" sz="1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Metrics</a:t>
            </a:r>
            <a:endParaRPr sz="136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0"/>
              <a:buFont typeface="Times New Roman"/>
              <a:buAutoNum type="arabicPeriod"/>
            </a:pPr>
            <a:r>
              <a:rPr lang="en" sz="1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Evaluation</a:t>
            </a:r>
            <a:endParaRPr sz="136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0"/>
              <a:buFont typeface="Times New Roman"/>
              <a:buAutoNum type="arabicPeriod"/>
            </a:pPr>
            <a:r>
              <a:rPr lang="en" sz="1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Actionable Insights</a:t>
            </a:r>
            <a:endParaRPr sz="136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0"/>
              <a:buFont typeface="Times New Roman"/>
              <a:buAutoNum type="arabicPeriod"/>
            </a:pPr>
            <a:r>
              <a:rPr lang="en" sz="1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136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0"/>
              <a:buFont typeface="Times New Roman"/>
              <a:buAutoNum type="arabicPeriod"/>
            </a:pPr>
            <a:r>
              <a:rPr lang="en" sz="1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Directions</a:t>
            </a:r>
            <a:endParaRPr sz="136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0"/>
              <a:buFont typeface="Times New Roman"/>
              <a:buAutoNum type="arabicPeriod"/>
            </a:pPr>
            <a:r>
              <a:rPr lang="en" sz="1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136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idx="4294967295" type="title"/>
          </p:nvPr>
        </p:nvSpPr>
        <p:spPr>
          <a:xfrm>
            <a:off x="743525" y="547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591500" y="406825"/>
            <a:ext cx="8251800" cy="33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Fake job postings are a pervasive issue, causing harm to job seekers and eroding trust in online job platforms. Our goal is to develop a model that can accurately identify fraudulent postings and mitigate this problem.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idx="4294967295" type="title"/>
          </p:nvPr>
        </p:nvSpPr>
        <p:spPr>
          <a:xfrm>
            <a:off x="743525" y="547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of Dataset</a:t>
            </a:r>
            <a:endParaRPr b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564200" y="1234100"/>
            <a:ext cx="8251800" cy="228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dataset, sourced from Kaggle, consists of over 17,000 job postings collected from various industries and locations.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Attributes include job title, location, company profile, job description, and more, providing rich data for analysis.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We're tackling the challenge of distinguishing between real and fraudulent job postings by leveraging machine learning techniques.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idx="4294967295" type="title"/>
          </p:nvPr>
        </p:nvSpPr>
        <p:spPr>
          <a:xfrm>
            <a:off x="743525" y="547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 Steps</a:t>
            </a:r>
            <a:endParaRPr b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597325" y="1997375"/>
            <a:ext cx="8251800" cy="269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began by preprocessing the dataset to prepare it for analysis and model training.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Essential attributes such as 'description' and 'fraudulent' were selected for further analysis.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preprocessing involved normalization, tokenization, and removal of stopwords using the Natural Language Toolkit (NLTK).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resulting clean data is structured and ready for further exploration and modeling.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idx="4294967295" type="title"/>
          </p:nvPr>
        </p:nvSpPr>
        <p:spPr>
          <a:xfrm>
            <a:off x="743525" y="547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 statistics</a:t>
            </a:r>
            <a:endParaRPr b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8"/>
          <p:cNvSpPr txBox="1"/>
          <p:nvPr>
            <p:ph idx="1" type="body"/>
          </p:nvPr>
        </p:nvSpPr>
        <p:spPr>
          <a:xfrm>
            <a:off x="608375" y="2449500"/>
            <a:ext cx="8251800" cy="269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 statistics provide insights into the characteristics of our dataset.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 include: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job postings do not allow telecommuting, indicating a preference for on-site work.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high percentage of ads include company logos, potentially indicating credibility.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a small portion of postings are identified as fraudulent, highlighting the importance of effective fraud detection measures.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idx="4294967295" type="title"/>
          </p:nvPr>
        </p:nvSpPr>
        <p:spPr>
          <a:xfrm>
            <a:off x="743525" y="547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Plots</a:t>
            </a:r>
            <a:endParaRPr b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575250" y="2019475"/>
            <a:ext cx="8251800" cy="269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Visualizations aid in understanding the distribution and trends within the dataset.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plots include: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Distribution of fraudulent vs non-fraudulent postings.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Impact of logo presence on authenticity.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Top industries with the highest number of job posts. 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Association between employment type and fraudulent postings.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idx="4294967295" type="title"/>
          </p:nvPr>
        </p:nvSpPr>
        <p:spPr>
          <a:xfrm>
            <a:off x="743525" y="547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Selection: Classification</a:t>
            </a:r>
            <a:endParaRPr b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575250" y="1224750"/>
            <a:ext cx="8251800" cy="269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chose classification as our modeling approach due to its effectiveness in categorizing data into predefined groups.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learning with labeled data enables us to train models to make predictions based on past examples.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>
            <p:ph idx="4294967295" type="title"/>
          </p:nvPr>
        </p:nvSpPr>
        <p:spPr>
          <a:xfrm>
            <a:off x="743525" y="547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Classifier Selection: Decision Tree</a:t>
            </a:r>
            <a:endParaRPr b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1"/>
          <p:cNvSpPr txBox="1"/>
          <p:nvPr>
            <p:ph idx="1" type="body"/>
          </p:nvPr>
        </p:nvSpPr>
        <p:spPr>
          <a:xfrm>
            <a:off x="597350" y="1224750"/>
            <a:ext cx="8251800" cy="269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Decision Tree Classifier was selected for its simplicity and interpretability.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trees are capable of handling both numeric and categorical data, making them suitable for our dataset.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Tuning parameters such as 'max_depth' and 'min_samples_leaf' optimized model performance, improving precision and recall.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>
            <p:ph idx="4294967295" type="title"/>
          </p:nvPr>
        </p:nvSpPr>
        <p:spPr>
          <a:xfrm>
            <a:off x="743525" y="547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Metrics</a:t>
            </a:r>
            <a:endParaRPr b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2"/>
          <p:cNvSpPr txBox="1"/>
          <p:nvPr>
            <p:ph idx="1" type="body"/>
          </p:nvPr>
        </p:nvSpPr>
        <p:spPr>
          <a:xfrm>
            <a:off x="564225" y="1092300"/>
            <a:ext cx="8251800" cy="269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evaluated model performance using various metrics, including precision, recall, and F1-score.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ROC curve and AUC provide insights into the trade-off between true positive and false positive rates across different threshold levels.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/>
          <p:nvPr>
            <p:ph idx="4294967295" type="title"/>
          </p:nvPr>
        </p:nvSpPr>
        <p:spPr>
          <a:xfrm>
            <a:off x="743525" y="547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Evaluation</a:t>
            </a:r>
            <a:endParaRPr b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3"/>
          <p:cNvSpPr txBox="1"/>
          <p:nvPr>
            <p:ph idx="1" type="body"/>
          </p:nvPr>
        </p:nvSpPr>
        <p:spPr>
          <a:xfrm>
            <a:off x="586300" y="1743525"/>
            <a:ext cx="8251800" cy="269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initial Decision Tree model demonstrated promising performance, with high precision and recall for non-fraudulent postings.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tuning, the model showed improved precision for fraudulent postings, reducing false positives.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However, there was a trade-off between precision and recall, highlighting the need for careful consideration of model parameters.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 txBox="1"/>
          <p:nvPr>
            <p:ph idx="4294967295" type="title"/>
          </p:nvPr>
        </p:nvSpPr>
        <p:spPr>
          <a:xfrm>
            <a:off x="743525" y="547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Actionable Insights</a:t>
            </a:r>
            <a:endParaRPr b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4"/>
          <p:cNvSpPr txBox="1"/>
          <p:nvPr>
            <p:ph idx="1" type="body"/>
          </p:nvPr>
        </p:nvSpPr>
        <p:spPr>
          <a:xfrm>
            <a:off x="586300" y="1743525"/>
            <a:ext cx="8251800" cy="269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analysis provides actionable insights for job platforms and stakeholders: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Utilize logo presence as an indicator of authenticity, potentially flagging postings without company logos for further scrutiny.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Focus attention on industries prone to fraudulent postings, implementing targeted fraud detection measures.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Enhance fraud detection systems based on model findings, continuously improving accuracy and efficiency.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>
            <p:ph idx="4294967295" type="title"/>
          </p:nvPr>
        </p:nvSpPr>
        <p:spPr>
          <a:xfrm>
            <a:off x="743525" y="547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5"/>
          <p:cNvSpPr txBox="1"/>
          <p:nvPr>
            <p:ph idx="1" type="body"/>
          </p:nvPr>
        </p:nvSpPr>
        <p:spPr>
          <a:xfrm>
            <a:off x="575250" y="1423850"/>
            <a:ext cx="8251800" cy="20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conclusion, our data-driven approach offers valuable insights into detecting fake job postings.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leveraging classification models and thorough analysis, we can take proactive steps towards mitigating this pervasive issue and protecting job seekers.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>
            <p:ph idx="4294967295" type="title"/>
          </p:nvPr>
        </p:nvSpPr>
        <p:spPr>
          <a:xfrm>
            <a:off x="743525" y="547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Directions</a:t>
            </a:r>
            <a:endParaRPr b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26"/>
          <p:cNvSpPr txBox="1"/>
          <p:nvPr>
            <p:ph idx="1" type="body"/>
          </p:nvPr>
        </p:nvSpPr>
        <p:spPr>
          <a:xfrm>
            <a:off x="608375" y="2439300"/>
            <a:ext cx="8251800" cy="20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research could explore more advanced machine learning techniques, such as deep learning or ensemble methods, to further improve model performance.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Collaboration with industry stakeholders and regulatory bodies could lead to the development of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 standards and best practices for preventing and detecting fake job postings.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monitoring and updating of fraud detection systems are essential to adapt to evolving tactics used by scammers.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/>
          <p:nvPr>
            <p:ph idx="4294967295" type="title"/>
          </p:nvPr>
        </p:nvSpPr>
        <p:spPr>
          <a:xfrm>
            <a:off x="743525" y="547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27"/>
          <p:cNvSpPr txBox="1"/>
          <p:nvPr>
            <p:ph idx="1" type="body"/>
          </p:nvPr>
        </p:nvSpPr>
        <p:spPr>
          <a:xfrm>
            <a:off x="586300" y="1291400"/>
            <a:ext cx="8251800" cy="20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Kaggle Dataset: Real or Fake Job Posting Prediction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Natural Language Toolkit (NLTK) documentation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Scikit-learn documentation for Decision Tree Classifier and model evaluation metrics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/>
        </p:nvSpPr>
        <p:spPr>
          <a:xfrm>
            <a:off x="1138800" y="1898800"/>
            <a:ext cx="68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!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28"/>
          <p:cNvSpPr txBox="1"/>
          <p:nvPr>
            <p:ph idx="1" type="body"/>
          </p:nvPr>
        </p:nvSpPr>
        <p:spPr>
          <a:xfrm>
            <a:off x="572700" y="2669000"/>
            <a:ext cx="4184400" cy="22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b="1" sz="1720">
              <a:solidFill>
                <a:srgbClr val="343C4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en" sz="1800">
                <a:solidFill>
                  <a:srgbClr val="343C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by,</a:t>
            </a:r>
            <a:endParaRPr b="1" sz="1800">
              <a:solidFill>
                <a:srgbClr val="343C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b="1" sz="1800">
              <a:solidFill>
                <a:srgbClr val="343C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800">
                <a:solidFill>
                  <a:srgbClr val="343C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Sreenath Elisetty</a:t>
            </a:r>
            <a:endParaRPr sz="1800">
              <a:solidFill>
                <a:srgbClr val="343C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800">
                <a:solidFill>
                  <a:srgbClr val="343C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Mohan Renuka Nanda Rayudu Oruganti</a:t>
            </a:r>
            <a:endParaRPr sz="1800">
              <a:solidFill>
                <a:srgbClr val="343C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800">
                <a:solidFill>
                  <a:srgbClr val="343C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Harish Vemula</a:t>
            </a:r>
            <a:endParaRPr sz="1800">
              <a:solidFill>
                <a:srgbClr val="343C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800">
                <a:solidFill>
                  <a:srgbClr val="343C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Harshad Rama Satya Sai Peddoju</a:t>
            </a:r>
            <a:endParaRPr sz="1800">
              <a:solidFill>
                <a:srgbClr val="343C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800">
              <a:solidFill>
                <a:srgbClr val="343C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7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